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201168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000" b="1">
                <a:solidFill>
                  <a:srgbClr val="003366"/>
                </a:solidFill>
              </a:defRPr>
            </a:pPr>
            <a:r>
              <a:t>Bluestock Mutual Fund Capstone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Quantitative Portfolio Performance, Risk Modeling, &amp; Investor Continuity Analytics</a:t>
            </a:r>
            <a:br/>
            <a:br/>
            <a:r>
              <a:t>Prepared by: Data Analytics Intern</a:t>
            </a:r>
            <a:br/>
            <a:r>
              <a:t>Submission Date: July 1, 2026</a:t>
            </a:r>
            <a:br/>
            <a:r>
              <a:t>Project Manager: Yash Kale (yashkale@bluestock.in)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Technical ETL &amp; 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Modular ETL pipeline developed using dynamic relative paths for complete environment portability.</a:t>
            </a:r>
          </a:p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Non-pricing weekend and holiday gaps resolved by reindexing daily date ranges and applying forward-fill (.ffill()) algorithms.</a:t>
            </a:r>
          </a:p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Cleaned tables structured in a star schema and loaded to SQLite (bluestock_mf.db) to optimize analytic query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Fund Performance Scorecard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Constructed a 100-point multi-factor scorecard combining 3Yr CAGR, Sharpe, Alpha, Expense, and Drawdown rankings.</a:t>
            </a:r>
          </a:p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Rank #1: Mirae Asset Tax Saver Fund - Regular - Growth (Score: 87.94 | Sharpe: 1.23 | Sortino: 2.15 | Alpha: 28.08%).</a:t>
            </a:r>
          </a:p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Rank #2: DSP Small Cap Fund - Regular - Growth (Score: 87.44 | Sharpe: 0.95 | Alpha: 29.58% | Drawdown: -31.2%).</a:t>
            </a:r>
          </a:p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Rank #3: ICICI Pru Midcap Fund - Regular - Growth (Score: 82.38 | Sharpe: 1.18 | Sortino: 2.03 | Alpha: 29.51%).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Quantitative Risk Modeling (VaR vs. CVaR)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Modeled daily historical downside risk over 1,149 active trading days using 95% confidence intervals.</a:t>
            </a:r>
          </a:p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Extreme Tail Loss: SBI Small Cap Fund (AMFI: 119599) has a daily VaR of -2.69% and a Conditional VaR (CVaR) of -3.24%.</a:t>
            </a:r>
          </a:p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Capital Preservation: ICICI Pru Liquid Fund (AMFI: 120507) has a daily VaR of -0.02% and a Conditional VaR of -0.04%.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Diversification &amp; Sector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Evaluated asset concentration across equity portfolios using the Herfindahl-Hirschman Index (HHI).</a:t>
            </a:r>
          </a:p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Axis Bluechip Fund (AMFI: 119092): Highest HHI sector concentration of 0.2968, indicating sensitivity to financial/tech corrections.</a:t>
            </a:r>
          </a:p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UTI Mid Cap Fund (AMFI: 102886): Lowest HHI sector concentration of 0.1240, indicating highly diversified industry holdings.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Long-Term NAV Projection (B3 Monte Carlo)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Executed a 5-year stochastic simulation (1,260 future trading days) with 1,000 runs using historical volatility.</a:t>
            </a:r>
          </a:p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Projected Mirae Asset Tax Saver Fund expected NAV paths, bounding extreme best and worst-case outcomes.</a:t>
            </a:r>
          </a:p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Visual chart saved to reports/monte_carlo_projection.png to help advisors set objective long-term growth expectations.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Investor Behavioral &amp; Retention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Audit of loyal accounts (6+ consecutive SIPs) flagged payment intervals exceeding 35 days as high-retention risks.</a:t>
            </a:r>
          </a:p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At-Risk Accounts: INV000028 (avg gap: 93.6 days) and INV000004 (avg gap: 85.4 days) show extensive mandate friction.</a:t>
            </a:r>
          </a:p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Disciplined Accounts: INV000334 (gap of 25.5 days) and INV000750 (gap of 26.5 days) represent stable recurring inflows.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Interactive Analytics Dashboard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Developed a 4-page Power BI dashboard detailing Industry Overview, Performance, Investor Analytics, and SIP Trends.</a:t>
            </a:r>
          </a:p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Configured multi-select interactive slicers (State, Fund House, Age Group, Category) for real-time portfolio filtering.</a:t>
            </a:r>
          </a:p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Verified industry AUM baseline scales of ₹81L Cr, monthly SIP inflows of ₹31K Cr, and a folio base of 26.12 Cr.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Establish automated UI warnings flag limiters for high-concentration equity funds (sector HHI &gt; 0.20).</a:t>
            </a:r>
          </a:p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Deploy proactive notification workflows targeting at-risk accounts whose transactional gap has exceeded 35 days.</a:t>
            </a:r>
          </a:p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•   Incorporate risk-adjusted metrics (Sharpe, Sortino, Alpha) directly into the core scheme recommendation logic.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3465</Words>
  <Application>WPS Presentation</Application>
  <PresentationFormat>On-screen Show (4:3)</PresentationFormat>
  <Paragraphs>52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Fake</cp:lastModifiedBy>
  <cp:revision>2</cp:revision>
  <dcterms:created xsi:type="dcterms:W3CDTF">2013-01-27T09:14:00Z</dcterms:created>
  <dcterms:modified xsi:type="dcterms:W3CDTF">2026-07-01T17:26:36Z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6AC96ABE49DD40C0B216F920FA762382_12</vt:lpwstr>
  </property>
  <property fmtid="{D5CDD505-2E9C-101B-9397-08002B2CF9AE}" pid="3" name="KSOProductBuildVer">
    <vt:lpwstr>2057-12.2.0.23203</vt:lpwstr>
  </property>
</Properties>
</file>